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5e98224220405c" /><Relationship Type="http://schemas.openxmlformats.org/officeDocument/2006/relationships/extended-properties" Target="/docProps/app.xml" Id="R056187659fda4712" /><Relationship Type="http://schemas.openxmlformats.org/officeDocument/2006/relationships/officeDocument" Target="/ppt/presentation.xml" Id="R75026b51ec5540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781e7cb51e4fc0"/>
  </p:sldMasterIdLst>
  <p:notesMasterIdLst>
    <p:notesMasterId xmlns:r="http://schemas.openxmlformats.org/officeDocument/2006/relationships" r:id="Raa42f91d60884cc1"/>
  </p:notesMasterIdLst>
  <p:sldIdLst>
    <p:sldId xmlns:r="http://schemas.openxmlformats.org/officeDocument/2006/relationships" id="256" r:id="R72bc709e42dd4cff"/>
    <p:sldId xmlns:r="http://schemas.openxmlformats.org/officeDocument/2006/relationships" id="257" r:id="R5570a98a3d5a4389"/>
    <p:sldId xmlns:r="http://schemas.openxmlformats.org/officeDocument/2006/relationships" id="258" r:id="R2eafa85113ed4c38"/>
    <p:sldId xmlns:r="http://schemas.openxmlformats.org/officeDocument/2006/relationships" id="259" r:id="R741eef4b795f4d26"/>
    <p:sldId xmlns:r="http://schemas.openxmlformats.org/officeDocument/2006/relationships" id="260" r:id="R44bfc47e129c41fb"/>
    <p:sldId xmlns:r="http://schemas.openxmlformats.org/officeDocument/2006/relationships" id="261" r:id="Rf59a3bcd120549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481f83f1e840e4" /><Relationship Type="http://schemas.openxmlformats.org/officeDocument/2006/relationships/slideMaster" Target="/ppt/slideMasters/slideMaster1.xml" Id="R91781e7cb51e4fc0" /><Relationship Type="http://schemas.openxmlformats.org/officeDocument/2006/relationships/notesMaster" Target="/ppt/notesMasters/notesMaster1.xml" Id="Raa42f91d60884cc1" /><Relationship Type="http://schemas.openxmlformats.org/officeDocument/2006/relationships/presProps" Target="/ppt/presProps.xml" Id="R759ec370ebc6432a" /><Relationship Type="http://schemas.openxmlformats.org/officeDocument/2006/relationships/tableStyles" Target="/ppt/tableStyles.xml" Id="Ra91170cfba9a4ceb" /><Relationship Type="http://schemas.openxmlformats.org/officeDocument/2006/relationships/slide" Target="/ppt/slides/slide1.xml" Id="R72bc709e42dd4cff" /><Relationship Type="http://schemas.openxmlformats.org/officeDocument/2006/relationships/slide" Target="/ppt/slides/slide2.xml" Id="R5570a98a3d5a4389" /><Relationship Type="http://schemas.openxmlformats.org/officeDocument/2006/relationships/slide" Target="/ppt/slides/slide3.xml" Id="R2eafa85113ed4c38" /><Relationship Type="http://schemas.openxmlformats.org/officeDocument/2006/relationships/slide" Target="/ppt/slides/slide4.xml" Id="R741eef4b795f4d26" /><Relationship Type="http://schemas.openxmlformats.org/officeDocument/2006/relationships/slide" Target="/ppt/slides/slide5.xml" Id="R44bfc47e129c41fb" /><Relationship Type="http://schemas.openxmlformats.org/officeDocument/2006/relationships/slide" Target="/ppt/slides/slide6.xml" Id="Rf59a3bcd120549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d516d5ca5d4a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458de242a74592" /><Relationship Type="http://schemas.openxmlformats.org/officeDocument/2006/relationships/notesMaster" Target="/ppt/notesMasters/notesMaster1.xml" Id="R58d232a76eff46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b9ba666df540f9" /><Relationship Type="http://schemas.openxmlformats.org/officeDocument/2006/relationships/notesMaster" Target="/ppt/notesMasters/notesMaster1.xml" Id="R8eaa05a2a6354f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beddb2052b45d8" /><Relationship Type="http://schemas.openxmlformats.org/officeDocument/2006/relationships/notesMaster" Target="/ppt/notesMasters/notesMaster1.xml" Id="R3b9b946c7de14c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de33a10a4e4161" /><Relationship Type="http://schemas.openxmlformats.org/officeDocument/2006/relationships/notesMaster" Target="/ppt/notesMasters/notesMaster1.xml" Id="R2513eda85a8948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afd9878b8c419b" /><Relationship Type="http://schemas.openxmlformats.org/officeDocument/2006/relationships/notesMaster" Target="/ppt/notesMasters/notesMaster1.xml" Id="R3de593e452a647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df62c0230f417f" /><Relationship Type="http://schemas.openxmlformats.org/officeDocument/2006/relationships/notesMaster" Target="/ppt/notesMasters/notesMaster1.xml" Id="R0ea24f6df5ab45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synthetic-data prototype. No government affiliation, approved regulatory rule pack, or live issuer integration is claimed. Official SIH brief/template must be confirmed. Research: SIH26261_RESEARCH_GAP_AND_IMPLEMENTATION.md in the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campus example is synthetic, not an allegation about any real institution. Verification does not itself determine reliance: https://www.w3.org/TR/vc-data-model/ . Actual prototype screen, generated document, and deterministic rule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are computed from document dependencies, not hardcoded. Prior art includes evidence-triggered re-evaluation: https://kloom.ai/continuous-due-diligence-kyc/ . This is an AICTE-specific implementation opportunity, not a worldwide-first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current pramaanscope source, shared contracts, server rules/store, and client OCR module. Production authentication and digital-signature validation are not implemented. CompliScan checkout remains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npm test (24 tests passed), npm run test:e2e (5 tests passed), submission/evaluation-results.json and CSV (12 synthetic PDF packet outcomes). The tests do not measure real-world accuracy, a held-out national dataset, or officer time savings.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Entity Locker is existing infrastructure: https://www.pib.gov.in/PressReleaseIframePage.aspx?PRID=2094574&amp;lang=2&amp;reg=3 . Signature-verification requirements: https://www.cca.gov.in/index.php/signature_verification.html . No access to these services is assumed in the current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55dd6102d40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47d70293ca4d7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ab5bad8a8142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c7b6deacb4f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4a66f2ffa4b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8898dab04842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ED1BD4-3C66-4181-B56B-9BD229C1D5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44F304-F632-49C1-ACBF-26C0CBDE8A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EF5C4C4-7531-4554-BB7E-191E902EC9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994B27-2543-4CBB-874C-6049254099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BF92FEC-7E49-45E3-A0E3-132CD4357F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0109FA-A610-433B-AF58-83898865C5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3F34F8-4EC3-4E8C-AE62-A391C9505E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5FF2FF-2FCE-469E-BAE4-4D52DE1DC4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C15DCB-FC2C-401F-9676-9805E237B9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4BF537-6C4F-4FC6-9DD2-C8DC8E8773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c75bd705264daf" /><Relationship Type="http://schemas.openxmlformats.org/officeDocument/2006/relationships/slideLayout" Target="/ppt/slideLayouts/slideLayout1.xml" Id="R397db77b1fd343c4" /><Relationship Type="http://schemas.openxmlformats.org/officeDocument/2006/relationships/slideLayout" Target="/ppt/slideLayouts/slideLayout2.xml" Id="R833f937ad1aa4848" /><Relationship Type="http://schemas.openxmlformats.org/officeDocument/2006/relationships/slideLayout" Target="/ppt/slideLayouts/slideLayout3.xml" Id="Ra3f5c6f56f964a27" /><Relationship Type="http://schemas.openxmlformats.org/officeDocument/2006/relationships/slideLayout" Target="/ppt/slideLayouts/slideLayout4.xml" Id="Rd2bf080f12fe445a" /><Relationship Type="http://schemas.openxmlformats.org/officeDocument/2006/relationships/slideLayout" Target="/ppt/slideLayouts/slideLayout5.xml" Id="Rd08d3ee8d8654acd" /><Relationship Type="http://schemas.openxmlformats.org/officeDocument/2006/relationships/slideLayout" Target="/ppt/slideLayouts/slideLayout6.xml" Id="Rb535a4d677864f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7db77b1fd343c4"/>
    <p:sldLayoutId xmlns:r="http://schemas.openxmlformats.org/officeDocument/2006/relationships" id="2147483650" r:id="R833f937ad1aa4848"/>
    <p:sldLayoutId xmlns:r="http://schemas.openxmlformats.org/officeDocument/2006/relationships" id="2147483651" r:id="Ra3f5c6f56f964a27"/>
    <p:sldLayoutId xmlns:r="http://schemas.openxmlformats.org/officeDocument/2006/relationships" id="2147483652" r:id="Rd2bf080f12fe445a"/>
    <p:sldLayoutId xmlns:r="http://schemas.openxmlformats.org/officeDocument/2006/relationships" id="2147483653" r:id="Rd08d3ee8d8654acd"/>
    <p:sldLayoutId xmlns:r="http://schemas.openxmlformats.org/officeDocument/2006/relationships" id="2147483654" r:id="Rb535a4d677864f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11cad6740c4333" /><Relationship Type="http://schemas.openxmlformats.org/officeDocument/2006/relationships/notesSlide" Target="/ppt/notesSlides/notesSlide1.xml" Id="Rb4d54e0cbf3640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e14e7d251347cf" /><Relationship Type="http://schemas.openxmlformats.org/officeDocument/2006/relationships/image" Target="/ppt/media/image.png" Id="R18d23ccbd6c445ad" /><Relationship Type="http://schemas.openxmlformats.org/officeDocument/2006/relationships/notesSlide" Target="/ppt/notesSlides/notesSlide2.xml" Id="R1a703823e85c4e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ad505311e04f98" /><Relationship Type="http://schemas.openxmlformats.org/officeDocument/2006/relationships/image" Target="/ppt/media/image2.png" Id="Re0716cd6300e48a4" /><Relationship Type="http://schemas.openxmlformats.org/officeDocument/2006/relationships/notesSlide" Target="/ppt/notesSlides/notesSlide3.xml" Id="Rbc16e15f1ad343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27298f6f9a484c" /><Relationship Type="http://schemas.openxmlformats.org/officeDocument/2006/relationships/notesSlide" Target="/ppt/notesSlides/notesSlide4.xml" Id="R3521eb8753a442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e2246fed214081" /><Relationship Type="http://schemas.openxmlformats.org/officeDocument/2006/relationships/notesSlide" Target="/ppt/notesSlides/notesSlide5.xml" Id="R4006f35acce444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348a1af34f4e38" /><Relationship Type="http://schemas.openxmlformats.org/officeDocument/2006/relationships/notesSlide" Target="/ppt/notesSlides/notesSlide6.xml" Id="Rb1ed3c45c0f444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19323-A05D-4809-B452-EECF5F18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477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PramaanScope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5DBFB-9513-499E-93C8-0E70A9C7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A8E1CF"/>
                </a:solidFill>
                <a:latin typeface="Arial"/>
                <a:ea typeface="Arial"/>
                <a:cs typeface="Arial"/>
              </a:rPr>
              <a:t>Evidence-led institutional compliance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67E01-60E7-4F3C-BAF8-D02EA187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2EAF3"/>
                </a:solidFill>
                <a:latin typeface="Arial"/>
                <a:ea typeface="Arial"/>
                <a:cs typeface="Arial"/>
              </a:rPr>
              <a:t>Explain what a document supports.</a:t>
            </a:r>
          </a:p>
          <a:p xmlns:a="http://schemas.openxmlformats.org/drawingml/2006/main">
            <a: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2EAF3"/>
                </a:solidFill>
                <a:latin typeface="Arial"/>
                <a:ea typeface="Arial"/>
                <a:cs typeface="Arial"/>
              </a:rPr>
              <a:t>Show what needs review when it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34819-C1EF-4CA8-A3E1-21F7C65B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4D1E1"/>
                </a:solidFill>
                <a:latin typeface="Arial"/>
                <a:ea typeface="Arial"/>
                <a:cs typeface="Arial"/>
              </a:rPr>
              <a:t>SIH26261 / AICTE application validation and document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960C6-508E-4006-BCCF-3E773F40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674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Presentation draft. Transfer content into the official SIH template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291075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F8253-4F94-40D7-860F-B540C6A8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A readable certificate can cover the wrong campus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E43CE-27DC-46BB-BA2F-8FB3E0E1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The reviewer needs to know whether the evidence supports this particular application.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6874E-A2AB-4181-B9E0-CCB4355D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PramaanScope / SIH26261 / Synthetic-data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2BFFD-7BF6-43B2-A23F-0438AC05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2 /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6C14E-D9B6-40B0-8224-F57835E7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Application: Campus A</a:t>
            </a:r>
          </a:p>
          <a:p xmlns:a="http://schemas.openxmlformats.org/drawingml/2006/main">
            <a: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Certificate: Campus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CA5AF-657E-4258-8DEE-9FC66E4A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F57"/>
                </a:solidFill>
                <a:latin typeface="Arial"/>
                <a:ea typeface="Arial"/>
                <a:cs typeface="Arial"/>
              </a:rPr>
              <a:t>The system links the discrepancy to the original page and requests the specific missing evidence.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223F4-4663-4329-8173-6BAE608274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23ccbd6c445ad"/>
          <a:stretch xmlns:a="http://schemas.openxmlformats.org/drawingml/2006/main"/>
        </p:blipFill>
        <p:spPr>
          <a:xfrm xmlns:a="http://schemas.openxmlformats.org/drawingml/2006/main">
            <a:off x="5122545" y="2371725"/>
            <a:ext cx="6233160" cy="3895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694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14FDD-A027-47D7-9EE4-0B6667C8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Corrections show their impact before acceptance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22823-2453-4CA1-A24D-BADB489C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A changed document must not silently inherit an earlier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0C170-2EDB-49AB-B877-0E2B4AA5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PramaanScope / SIH26261 / Synthetic-data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4E5C7-C614-4F78-B829-8ED1A76B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3 /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FE693-67F2-4060-A0F4-9CA4FCCF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4095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1. Propose replacement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2. Inspect affected findings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3. Recalculate and re-review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2B12C-C68B-4634-AA01-D90E66A9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Original files, finding snapshots, and review reasons remain accessible.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A0C15-C94C-446C-95D0-71D1AC5E29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16cd6300e48a4"/>
          <a:stretch xmlns:a="http://schemas.openxmlformats.org/drawingml/2006/main"/>
        </p:blipFill>
        <p:spPr>
          <a:xfrm xmlns:a="http://schemas.openxmlformats.org/drawingml/2006/main">
            <a:off x="5115877" y="2324100"/>
            <a:ext cx="6294120" cy="3933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9193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27314-A72C-4AFA-A51A-5F2A9625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A local application with clear verification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038B9-87A6-49CE-AB96-C5A38750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CompliScan provides the OCR and evidence-handling foundation.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A9025-383E-4312-AFC0-69A03B81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PramaanScope / SIH26261 / Synthetic-data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71554-705F-48D6-B586-19EED14D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4 / 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A5C5A-884D-458E-8DF7-31A3802B249E}"/>
              </a:ext>
            </a:extLst>
          </p:cNvPr>
          <p:cNvGraphicFramePr/>
          <p:nvPr/>
        </p:nvGraphicFramePr>
        <p:xfrm>
          <a:off xmlns:a="http://schemas.openxmlformats.org/drawingml/2006/main" x="628650" y="243840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620000"/>
              </a:tblGrid>
              <a:tr h="555625">
                <a:tc>
                  <a:txBody>
                    <a:bodyPr lIns="152400" tIns="95250" rIns="11430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T w="9525">
                      <a:solidFill>
                        <a:srgbClr val="D9E3ED"/>
                      </a:solidFill>
                      <a:prstDash val="solid"/>
                    </a:lnT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14243B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Working implementation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T w="9525">
                      <a:solidFill>
                        <a:srgbClr val="D9E3ED"/>
                      </a:solidFill>
                      <a:prstDash val="solid"/>
                    </a:lnT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14243B"/>
                    </a:solidFill>
                  </a:tcPr>
                </a:tc>
              </a:tr>
              <a:tr h="555625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Interface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React, TypeScript, Vite, local fonts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Checks and evidence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Express API, deterministic rules, SHA-256 originals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555625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Processing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Actual PDF extraction and local Tesseract OCR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Persistence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SQLite transactions and private original files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555625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External verification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Explicitly simulated issuer adapter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2367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35CD8-BCF9-4CBC-9391-ACC54D41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Executed checks support a repeatable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27E44-5A73-41E7-8096-840CE728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These results describe synthetic tests, not national deployment accuracy or staff time savings.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095E4-4E89-4108-A72E-364D0071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PramaanScope / SIH26261 / Synthetic-data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3FB20-7049-44A6-AAEE-874A7C92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5 / 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5DEC6-65FC-4541-B3CE-0F6FCE4CC8FF}"/>
              </a:ext>
            </a:extLst>
          </p:cNvPr>
          <p:cNvGraphicFramePr/>
          <p:nvPr/>
        </p:nvGraphicFramePr>
        <p:xfrm>
          <a:off xmlns:a="http://schemas.openxmlformats.org/drawingml/2006/main" x="628650" y="2457450"/>
          <a:ext xmlns:a="http://schemas.openxmlformats.org/drawingml/2006/main" cx="10858500" cy="2733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286000"/>
                <a:gridCol w="5429250"/>
              </a:tblGrid>
              <a:tr h="683419">
                <a:tc>
                  <a:txBody>
                    <a:bodyPr lIns="152400" tIns="95250" rIns="11430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Executed validation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T w="9525">
                      <a:solidFill>
                        <a:srgbClr val="D9E3ED"/>
                      </a:solidFill>
                      <a:prstDash val="solid"/>
                    </a:lnT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14243B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result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T w="9525">
                      <a:solidFill>
                        <a:srgbClr val="D9E3ED"/>
                      </a:solidFill>
                      <a:prstDash val="solid"/>
                    </a:lnT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14243B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Coverage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T w="9525">
                      <a:solidFill>
                        <a:srgbClr val="D9E3ED"/>
                      </a:solidFill>
                      <a:prstDash val="solid"/>
                    </a:lnT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14243B"/>
                    </a:solidFill>
                  </a:tcPr>
                </a:tc>
              </a:tr>
              <a:tr h="683419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Rule and API tests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24 passed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Identity, dates, versioning, stale previews, reviews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3419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Browser checks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5 passed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Workflow, OCR, responsive layout, interface accessibility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83419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Generated PDF cases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12 expected outcomes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Actual extraction followed by deterministic checks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7D6D1-7F64-409F-A391-A01299CF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The accessibility scan excludes native PDF contents and is not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1488660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85C6D-6633-4404-B5E8-D92263B0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The next step is an authorized institutional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A82E1-88D3-46A7-9A6D-818C6176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Preserve the distinction between working features, simulations, and deployment requirements.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5DF9C-2D88-4CE5-8355-40060B85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PramaanScope / SIH26261 / Synthetic-data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13FCF-CC49-4224-A0B5-19D5E466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A9243-C27B-4F2C-8608-D17B7A31FEAD}"/>
              </a:ext>
            </a:extLst>
          </p:cNvPr>
          <p:cNvGraphicFramePr/>
          <p:nvPr/>
        </p:nvGraphicFramePr>
        <p:xfrm>
          <a:off xmlns:a="http://schemas.openxmlformats.org/drawingml/2006/main" x="628650" y="247650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86375"/>
                <a:gridCol w="5572125"/>
              </a:tblGrid>
              <a:tr h="628650">
                <a:tc>
                  <a:txBody>
                    <a:bodyPr lIns="152400" tIns="95250" rIns="11430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Working prototype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T w="9525">
                      <a:solidFill>
                        <a:srgbClr val="D9E3ED"/>
                      </a:solidFill>
                      <a:prstDash val="solid"/>
                    </a:lnT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14243B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Required for a real pilot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T w="9525">
                      <a:solidFill>
                        <a:srgbClr val="D9E3ED"/>
                      </a:solidFill>
                      <a:prstDash val="solid"/>
                    </a:lnT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14243B"/>
                    </a:solidFill>
                  </a:tcPr>
                </a:tc>
              </a:tr>
              <a:tr h="628650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Evidence extraction and linked findings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Validated category rules and applicable amendments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Clarification and correction-impact tracking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Authorized issuer APIs and signature trust validation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28650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Local storage and demo personas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Scoped authentication, PostgreSQL, private object storage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Synthetic regression evaluation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Authorized records and reviewer-based evaluation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69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2026-10-27T15:48:00.4800000Z</dcterms:created>
  <dcterms:modified xsi:type="dcterms:W3CDTF">2026-10-27T15:48:00.4800000Z</dcterms:modified>
</coreProperties>
</file>