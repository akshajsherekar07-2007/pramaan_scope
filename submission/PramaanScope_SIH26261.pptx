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0741b88604056" /><Relationship Type="http://schemas.openxmlformats.org/officeDocument/2006/relationships/extended-properties" Target="/docProps/app.xml" Id="Rd7c3ed5f83a64a47" /><Relationship Type="http://schemas.openxmlformats.org/officeDocument/2006/relationships/officeDocument" Target="/ppt/presentation.xml" Id="Rd7dd281265e749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787c126c3644ce"/>
  </p:sldMasterIdLst>
  <p:notesMasterIdLst>
    <p:notesMasterId xmlns:r="http://schemas.openxmlformats.org/officeDocument/2006/relationships" r:id="Rf729d5a0508a41c2"/>
  </p:notesMasterIdLst>
  <p:sldIdLst>
    <p:sldId xmlns:r="http://schemas.openxmlformats.org/officeDocument/2006/relationships" id="256" r:id="R4842867e63614b5f"/>
    <p:sldId xmlns:r="http://schemas.openxmlformats.org/officeDocument/2006/relationships" id="257" r:id="R15ab9573a85b43cf"/>
    <p:sldId xmlns:r="http://schemas.openxmlformats.org/officeDocument/2006/relationships" id="258" r:id="R843f6cd2f2284a9e"/>
    <p:sldId xmlns:r="http://schemas.openxmlformats.org/officeDocument/2006/relationships" id="259" r:id="R28d39f3a06e447fe"/>
    <p:sldId xmlns:r="http://schemas.openxmlformats.org/officeDocument/2006/relationships" id="260" r:id="R0e85378a0fc84953"/>
    <p:sldId xmlns:r="http://schemas.openxmlformats.org/officeDocument/2006/relationships" id="261" r:id="Rdae8ff181c8a41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388d11f02248b4" /><Relationship Type="http://schemas.openxmlformats.org/officeDocument/2006/relationships/slideMaster" Target="/ppt/slideMasters/slideMaster1.xml" Id="Rd7787c126c3644ce" /><Relationship Type="http://schemas.openxmlformats.org/officeDocument/2006/relationships/notesMaster" Target="/ppt/notesMasters/notesMaster1.xml" Id="Rf729d5a0508a41c2" /><Relationship Type="http://schemas.openxmlformats.org/officeDocument/2006/relationships/presProps" Target="/ppt/presProps.xml" Id="Rdda4dd35249c46e8" /><Relationship Type="http://schemas.openxmlformats.org/officeDocument/2006/relationships/tableStyles" Target="/ppt/tableStyles.xml" Id="R63bb96a7e2f54822" /><Relationship Type="http://schemas.openxmlformats.org/officeDocument/2006/relationships/slide" Target="/ppt/slides/slide1.xml" Id="R4842867e63614b5f" /><Relationship Type="http://schemas.openxmlformats.org/officeDocument/2006/relationships/slide" Target="/ppt/slides/slide2.xml" Id="R15ab9573a85b43cf" /><Relationship Type="http://schemas.openxmlformats.org/officeDocument/2006/relationships/slide" Target="/ppt/slides/slide3.xml" Id="R843f6cd2f2284a9e" /><Relationship Type="http://schemas.openxmlformats.org/officeDocument/2006/relationships/slide" Target="/ppt/slides/slide4.xml" Id="R28d39f3a06e447fe" /><Relationship Type="http://schemas.openxmlformats.org/officeDocument/2006/relationships/slide" Target="/ppt/slides/slide5.xml" Id="R0e85378a0fc84953" /><Relationship Type="http://schemas.openxmlformats.org/officeDocument/2006/relationships/slide" Target="/ppt/slides/slide6.xml" Id="Rdae8ff181c8a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60795e6ea6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66f21431d4ee5" /><Relationship Type="http://schemas.openxmlformats.org/officeDocument/2006/relationships/notesMaster" Target="/ppt/notesMasters/notesMaster1.xml" Id="Rb6a8b32d672b4a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807fdb6c134c87" /><Relationship Type="http://schemas.openxmlformats.org/officeDocument/2006/relationships/notesMaster" Target="/ppt/notesMasters/notesMaster1.xml" Id="Rcc9fc0ae51ba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14458b91804189" /><Relationship Type="http://schemas.openxmlformats.org/officeDocument/2006/relationships/notesMaster" Target="/ppt/notesMasters/notesMaster1.xml" Id="Rbedf85ec8bc247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9e2cdcbeae4432" /><Relationship Type="http://schemas.openxmlformats.org/officeDocument/2006/relationships/notesMaster" Target="/ppt/notesMasters/notesMaster1.xml" Id="R07ab13411f15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09a5fefa7b4fc1" /><Relationship Type="http://schemas.openxmlformats.org/officeDocument/2006/relationships/notesMaster" Target="/ppt/notesMasters/notesMaster1.xml" Id="R0d19a5f12d694b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ee8c6fabab4f23" /><Relationship Type="http://schemas.openxmlformats.org/officeDocument/2006/relationships/notesMaster" Target="/ppt/notesMasters/notesMaster1.xml" Id="R0099181c4be547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synthetic-data prototype. No government affiliation, approved regulatory rule pack, or live issuer integration is claimed. Official SIH brief/template must be confirmed. Research: SIH26261_RESEARCH_GAP_AND_IMPLEMENTATION.md in the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campus example is synthetic, not an allegation about any real institution. Verification does not itself determine reliance: https://www.w3.org/TR/vc-data-model/ . Actual prototype screen, generated document, and deterministic rule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computed from document dependencies, not hardcoded. Prior art includes evidence-triggered re-evaluation: https://kloom.ai/continuous-due-diligence-kyc/ . This is an AICTE-specific implementation opportunity, not a worldwide-first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current pramaanscope source, shared contracts, server rules/store, and client OCR module. Production authentication and digital-signature validation are not implemented. CompliScan checkout remains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npm test (24 tests passed), npm run test:e2e (5 tests passed), submission/evaluation-results.json and CSV (12 synthetic PDF packet outcomes). The tests do not measure real-world accuracy, a held-out national dataset, or officer time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Entity Locker is existing infrastructure: https://www.pib.gov.in/PressReleaseIframePage.aspx?PRID=2094574&amp;lang=2&amp;reg=3 . Signature-verification requirements: https://www.cca.gov.in/index.php/signature_verification.html . No access to these services is assumed in the current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2f53506444e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56a981efc43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bb040b068443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ad566fa9149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a5223162445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73fedd64941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28B256-41BA-450E-9489-2829C455D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4B20D4-7806-48CA-9587-0D88E9D22A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DCDDC0-3273-4754-BA9B-1EB6593A73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C54D99-DD62-486A-B773-8D27025A3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3F146CC-B84B-40FE-AE84-65CE283185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AC08BF-7A7F-4465-856C-D3ED79D3E8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E3E627-70FE-4ED2-8C98-2D616E673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C7D45A-9FC2-4482-A853-BEFBC1A1FC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336E95-D990-494C-9CC5-10FC4228F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B97320-9CDB-4E1A-9F65-5741D780C2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7d9ea318e045e9" /><Relationship Type="http://schemas.openxmlformats.org/officeDocument/2006/relationships/slideLayout" Target="/ppt/slideLayouts/slideLayout1.xml" Id="R245f8184b21d4887" /><Relationship Type="http://schemas.openxmlformats.org/officeDocument/2006/relationships/slideLayout" Target="/ppt/slideLayouts/slideLayout2.xml" Id="Rd2d143f9761d4cba" /><Relationship Type="http://schemas.openxmlformats.org/officeDocument/2006/relationships/slideLayout" Target="/ppt/slideLayouts/slideLayout3.xml" Id="R9b075d86e5964b14" /><Relationship Type="http://schemas.openxmlformats.org/officeDocument/2006/relationships/slideLayout" Target="/ppt/slideLayouts/slideLayout4.xml" Id="R85ffc7ecd5a44b1a" /><Relationship Type="http://schemas.openxmlformats.org/officeDocument/2006/relationships/slideLayout" Target="/ppt/slideLayouts/slideLayout5.xml" Id="R7044f5f79c134132" /><Relationship Type="http://schemas.openxmlformats.org/officeDocument/2006/relationships/slideLayout" Target="/ppt/slideLayouts/slideLayout6.xml" Id="Rccbe54feb11440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5f8184b21d4887"/>
    <p:sldLayoutId xmlns:r="http://schemas.openxmlformats.org/officeDocument/2006/relationships" id="2147483650" r:id="Rd2d143f9761d4cba"/>
    <p:sldLayoutId xmlns:r="http://schemas.openxmlformats.org/officeDocument/2006/relationships" id="2147483651" r:id="R9b075d86e5964b14"/>
    <p:sldLayoutId xmlns:r="http://schemas.openxmlformats.org/officeDocument/2006/relationships" id="2147483652" r:id="R85ffc7ecd5a44b1a"/>
    <p:sldLayoutId xmlns:r="http://schemas.openxmlformats.org/officeDocument/2006/relationships" id="2147483653" r:id="R7044f5f79c134132"/>
    <p:sldLayoutId xmlns:r="http://schemas.openxmlformats.org/officeDocument/2006/relationships" id="2147483654" r:id="Rccbe54feb11440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2ef4b79874f16" /><Relationship Type="http://schemas.openxmlformats.org/officeDocument/2006/relationships/notesSlide" Target="/ppt/notesSlides/notesSlide1.xml" Id="Rf6bec90e25874b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1151cfe0c44cb" /><Relationship Type="http://schemas.openxmlformats.org/officeDocument/2006/relationships/image" Target="/ppt/media/image.png" Id="R8983d79a452743fc" /><Relationship Type="http://schemas.openxmlformats.org/officeDocument/2006/relationships/notesSlide" Target="/ppt/notesSlides/notesSlide2.xml" Id="R7b3d492b1fcc4c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3837cb5e4a4788" /><Relationship Type="http://schemas.openxmlformats.org/officeDocument/2006/relationships/image" Target="/ppt/media/image2.png" Id="R76979d8999254ba1" /><Relationship Type="http://schemas.openxmlformats.org/officeDocument/2006/relationships/notesSlide" Target="/ppt/notesSlides/notesSlide3.xml" Id="Ra4c736788e3f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219b656e447d1" /><Relationship Type="http://schemas.openxmlformats.org/officeDocument/2006/relationships/notesSlide" Target="/ppt/notesSlides/notesSlide4.xml" Id="Rdfb98e2096fb40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bc54d41d63450f" /><Relationship Type="http://schemas.openxmlformats.org/officeDocument/2006/relationships/notesSlide" Target="/ppt/notesSlides/notesSlide5.xml" Id="R1700a5bbe37c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15f39b2194bf8" /><Relationship Type="http://schemas.openxmlformats.org/officeDocument/2006/relationships/notesSlide" Target="/ppt/notesSlides/notesSlide6.xml" Id="R6c5ad088b1f244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2D88F-F64C-4C1C-A131-864CADF7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477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PramaanScope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CC712-0363-4B3D-ADA7-04758FF7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A8E1C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A8E1CF"/>
                </a:solidFill>
                <a:latin typeface="Arial"/>
                <a:ea typeface="Arial"/>
                <a:cs typeface="Arial"/>
              </a:rPr>
              <a:t>Evidence-led institutional compliance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ACC34-CE7B-4DB3-8E2D-EFE5EB03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2EAF3"/>
                </a:solidFill>
                <a:latin typeface="Arial"/>
                <a:ea typeface="Arial"/>
                <a:cs typeface="Arial"/>
              </a:rPr>
              <a:t>Explain what a document supports.</a:t>
            </a:r>
          </a:p>
          <a:p xmlns:a="http://schemas.openxmlformats.org/drawingml/2006/main">
            <a:pPr>
              <a:defRPr sz="2550" b="0">
                <a:solidFill>
                  <a:srgbClr val="E2EAF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2EAF3"/>
                </a:solidFill>
                <a:latin typeface="Arial"/>
                <a:ea typeface="Arial"/>
                <a:cs typeface="Arial"/>
              </a:rPr>
              <a:t>Show what needs review when it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077F-0372-4C66-8BA6-877D292D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4D1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4D1E1"/>
                </a:solidFill>
                <a:latin typeface="Arial"/>
                <a:ea typeface="Arial"/>
                <a:cs typeface="Arial"/>
              </a:rPr>
              <a:t>SIH26261 / AICTE application validation and document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6117-8473-4165-9177-51A51123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B8C7D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C7D9"/>
                </a:solidFill>
                <a:latin typeface="Arial"/>
                <a:ea typeface="Arial"/>
                <a:cs typeface="Arial"/>
              </a:rPr>
              <a:t>Presentation draft. Transfer content into the official SIH template before submission.</a:t>
            </a:r>
          </a:p>
        </p:txBody>
      </p:sp>
    </p:spTree>
    <p:extLst>
      <p:ext uri="{BB962C8B-B14F-4D97-AF65-F5344CB8AC3E}">
        <p14:creationId xmlns:p14="http://schemas.microsoft.com/office/powerpoint/2010/main" val="13807247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A4A83-DB4F-4E68-8C4F-A2401EFD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A readable certificate can cover the wrong campus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6D519-E61F-4E3C-9305-024F7B1A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The reviewer needs to know whether the evidence supports this particular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EB8BE-D5F4-4AF4-83BE-C4FCDF27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01F7E-6D77-4F3E-99E4-491356AB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CA4C4-AD35-4F36-AB81-D7D6F4B8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Application: Campus A</a:t>
            </a:r>
          </a:p>
          <a:p xmlns:a="http://schemas.openxmlformats.org/drawingml/2006/main">
            <a:pPr>
              <a:defRPr sz="24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Certificate: Campus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732F2-F530-4801-99B0-DF116F28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53F5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F57"/>
                </a:solidFill>
                <a:latin typeface="Arial"/>
                <a:ea typeface="Arial"/>
                <a:cs typeface="Arial"/>
              </a:rPr>
              <a:t>The system links the discrepancy to the original page and requests the specific missing evidence.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A39DB-2A02-4AE9-9FDE-9DD968B2C3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3d79a452743fc"/>
          <a:stretch xmlns:a="http://schemas.openxmlformats.org/drawingml/2006/main"/>
        </p:blipFill>
        <p:spPr>
          <a:xfrm xmlns:a="http://schemas.openxmlformats.org/drawingml/2006/main">
            <a:off x="5122545" y="2371725"/>
            <a:ext cx="6233160" cy="3895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31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6737D-A126-44A8-ADF2-FE5D1370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Corrections show their impact before acceptance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52158-958F-444B-A1ED-0E7FD4D6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A changed document must not silently inherit an earlier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86FB65-BC3F-4F93-B580-130A1DD4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04D03-DB7D-4B9A-92B2-9E411B42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72416-83E4-4587-988C-ABE9DEA6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1. Propose replacement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2. Inspect affected findings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3. Recalculate and re-review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27A5B-4739-4B51-BB0A-A37B1A74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Original files, finding snapshots, and review reasons remain accessible.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145E3-775F-4544-85CF-DBECB36F53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79d8999254ba1"/>
          <a:stretch xmlns:a="http://schemas.openxmlformats.org/drawingml/2006/main"/>
        </p:blipFill>
        <p:spPr>
          <a:xfrm xmlns:a="http://schemas.openxmlformats.org/drawingml/2006/main">
            <a:off x="5115877" y="2324100"/>
            <a:ext cx="6294120" cy="3933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00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1F7EB-2F6F-41F2-9E90-02FAF228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A local application with clear verification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F64FE-2F80-4077-94A7-538578FA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CompliScan provides the OCR and evidence-handling foundation.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80FD0-900A-44A6-836B-4141AE72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6DA6-D2B2-48AF-9495-D9503CD8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D003F-F1FC-4F59-88CB-DD2465A736EF}"/>
              </a:ext>
            </a:extLst>
          </p:cNvPr>
          <p:cNvGraphicFramePr/>
          <p:nvPr/>
        </p:nvGraphicFramePr>
        <p:xfrm>
          <a:off xmlns:a="http://schemas.openxmlformats.org/drawingml/2006/main" x="628650" y="2438400"/>
          <a:ext xmlns:a="http://schemas.openxmlformats.org/drawingml/2006/main" cx="10858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620000"/>
              </a:tblGrid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implementation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Interface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React, TypeScript, Vite, local fonts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Checks and evidence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Express API, deterministic rules, SHA-256 originals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Processing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Actual PDF extraction and local Tesseract OCR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Persistence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SQLite transactions and private original files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555625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External verification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Explicitly simulated issuer adapter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1349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D1102-32DF-4F8E-9271-427FFC0B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Executed checks support a repeatable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EDC16-3B00-4D32-8992-698C98E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These results describe synthetic tests, not national deployment accuracy or staff time savings.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30279-6E1F-470F-8FF5-EE3A0A56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4C160-A8FB-422E-B60A-516EE867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D4031-9604-4362-8AAC-CBE7600DA68F}"/>
              </a:ext>
            </a:extLst>
          </p:cNvPr>
          <p:cNvGraphicFramePr/>
          <p:nvPr/>
        </p:nvGraphicFramePr>
        <p:xfrm>
          <a:off xmlns:a="http://schemas.openxmlformats.org/drawingml/2006/main" x="628650" y="2457450"/>
          <a:ext xmlns:a="http://schemas.openxmlformats.org/drawingml/2006/main" cx="10858500" cy="2733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286000"/>
                <a:gridCol w="5429250"/>
              </a:tblGrid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Executed validation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</a:tr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Rule and API tests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24 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Identity, dates, versioning, stale previews, reviews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Browser checks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5 passed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Workflow, OCR, responsive layout, interface accessibility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83419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Generated PDF cases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12 expected outcomes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Actual extraction followed by deterministic checks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EE0E2-4E97-4CD3-BE6C-81903CD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The accessibility scan excludes native PDF contents and is not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683569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34CCF-E012-484B-96A3-824BDCCB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4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243B"/>
                </a:solidFill>
                <a:latin typeface="Arial"/>
                <a:ea typeface="Arial"/>
                <a:cs typeface="Arial"/>
              </a:rPr>
              <a:t>The next step is an authorized institutional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08F4A-8935-46E1-B14F-256270EF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Preserve the distinction between working features, simulations, and deployment requirements.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BC42B-F7E2-4F7F-9040-AF28EFC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PramaanScope / SIH26261 / Synthetic-data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D1F6A-3D45-4AD6-8CB9-94D61A54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261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76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49291-DFC7-4656-9C14-4FAFF2C00B58}"/>
              </a:ext>
            </a:extLst>
          </p:cNvPr>
          <p:cNvGraphicFramePr/>
          <p:nvPr/>
        </p:nvGraphicFramePr>
        <p:xfrm>
          <a:off xmlns:a="http://schemas.openxmlformats.org/drawingml/2006/main" x="628650" y="24765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572125"/>
              </a:tblGrid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Working prototype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Required for a real pilot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T w="9525">
                      <a:solidFill>
                        <a:srgbClr val="D9E3ED"/>
                      </a:solidFill>
                      <a:prstDash val="solid"/>
                    </a:lnT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14243B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Evidence extraction and linked findings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Validated category rules and applicable amendments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Clarification and correction-impact tracking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Authorized issuer APIs and signature trust validation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Local storage and demo personas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Scoped authentication, PostgreSQL, private object storage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Synthetic regression evaluation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3ED"/>
                      </a:solidFill>
                      <a:prstDash val="solid"/>
                    </a:lnL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  <a:tc>
                  <a:txBody>
                    <a:bodyPr lIns="152400" tIns="95250" rIns="114300" bIns="95250"/>
                    <a:lstStyle/>
                    <a:p>
                      <a:r>
                        <a:rPr sz="1650" b="0">
                          <a:solidFill>
                            <a:srgbClr val="253F57"/>
                          </a:solidFill>
                          <a:latin typeface="Arial"/>
                          <a:ea typeface="Arial"/>
                          <a:cs typeface="Arial"/>
                        </a:rPr>
                        <a:t>Authorized records and reviewer-based evaluation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3ED"/>
                      </a:solidFill>
                      <a:prstDash val="solid"/>
                    </a:lnR>
                    <a:lnB w="9525">
                      <a:solidFill>
                        <a:srgbClr val="D9E3ED"/>
                      </a:solidFill>
                      <a:prstDash val="solid"/>
                    </a:lnB>
                    <a:solidFill>
                      <a:srgbClr val="ECF2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883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2026-10-27T13:05:16.3510000Z</dcterms:created>
  <dcterms:modified xsi:type="dcterms:W3CDTF">2026-10-27T13:05:16.3510000Z</dcterms:modified>
</coreProperties>
</file>